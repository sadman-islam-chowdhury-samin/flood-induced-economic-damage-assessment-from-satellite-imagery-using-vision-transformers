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Anaheim" panose="020B0604020202020204" charset="0"/>
      <p:regular r:id="rId22"/>
      <p:bold r:id="rId23"/>
    </p:embeddedFont>
    <p:embeddedFont>
      <p:font typeface="Lexend" panose="020B0604020202020204" charset="0"/>
      <p:regular r:id="rId24"/>
      <p:bold r:id="rId25"/>
    </p:embeddedFont>
    <p:embeddedFont>
      <p:font typeface="Nunito" pitchFamily="2" charset="0"/>
      <p:regular r:id="rId26"/>
      <p:bold r:id="rId27"/>
      <p:italic r:id="rId28"/>
      <p:boldItalic r:id="rId29"/>
    </p:embeddedFont>
    <p:embeddedFont>
      <p:font typeface="Raleway" pitchFamily="2" charset="0"/>
      <p:regular r:id="rId30"/>
      <p:bold r:id="rId31"/>
      <p:italic r:id="rId32"/>
      <p:boldItalic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556BAD-9C1E-4580-962F-8F6337644726}">
  <a:tblStyle styleId="{0B556BAD-9C1E-4580-962F-8F63376447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fff2e0f6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5fff2e0f6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28f1813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528f1813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528f1813c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8528f1813c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528f1813c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8528f1813c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528f1813c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8528f1813c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9d9f742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79d9f742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8528f1813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8528f1813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9e3835f8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79e3835f8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9e3835f8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79e3835f8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79e3835f8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79e3835f8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9e3835f8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79e3835f8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79e3835f8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79e3835f8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9d9f7428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79d9f7428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452538"/>
            <a:ext cx="3858900" cy="149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053756"/>
            <a:ext cx="2275800" cy="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4866724" y="789750"/>
            <a:ext cx="3564000" cy="35640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12" name="Google Shape;12;p2"/>
          <p:cNvCxnSpPr/>
          <p:nvPr/>
        </p:nvCxnSpPr>
        <p:spPr>
          <a:xfrm>
            <a:off x="716625" y="574625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818300" y="2249888"/>
            <a:ext cx="3516900" cy="13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818300" y="1176202"/>
            <a:ext cx="1450800" cy="97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4933000" y="890800"/>
            <a:ext cx="3392700" cy="33927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17" name="Google Shape;17;p3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156631"/>
            <a:ext cx="77040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>
            <a:off x="-8" y="4413550"/>
            <a:ext cx="9143908" cy="729981"/>
            <a:chOff x="-8" y="4413550"/>
            <a:chExt cx="9143908" cy="729981"/>
          </a:xfrm>
        </p:grpSpPr>
        <p:sp>
          <p:nvSpPr>
            <p:cNvPr id="22" name="Google Shape;22;p4"/>
            <p:cNvSpPr/>
            <p:nvPr/>
          </p:nvSpPr>
          <p:spPr>
            <a:xfrm flipH="1">
              <a:off x="1892" y="4413550"/>
              <a:ext cx="9140183" cy="723974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flipH="1"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4" name="Google Shape;24;p4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4296346" y="2944650"/>
            <a:ext cx="3137400" cy="12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817297" y="2944650"/>
            <a:ext cx="3137400" cy="12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817297" y="2507250"/>
            <a:ext cx="3137400" cy="4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4296348" y="2507250"/>
            <a:ext cx="3137400" cy="4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-8" y="4379259"/>
            <a:ext cx="9143908" cy="764272"/>
            <a:chOff x="-8" y="4379259"/>
            <a:chExt cx="9143908" cy="764272"/>
          </a:xfrm>
        </p:grpSpPr>
        <p:sp>
          <p:nvSpPr>
            <p:cNvPr id="32" name="Google Shape;32;p5"/>
            <p:cNvSpPr/>
            <p:nvPr/>
          </p:nvSpPr>
          <p:spPr>
            <a:xfrm flipH="1">
              <a:off x="1893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flipH="1"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4" name="Google Shape;34;p5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37" name="Google Shape;37;p6"/>
          <p:cNvGrpSpPr/>
          <p:nvPr/>
        </p:nvGrpSpPr>
        <p:grpSpPr>
          <a:xfrm>
            <a:off x="-8" y="4387805"/>
            <a:ext cx="9143908" cy="764272"/>
            <a:chOff x="-8" y="4379259"/>
            <a:chExt cx="9143908" cy="764272"/>
          </a:xfrm>
        </p:grpSpPr>
        <p:sp>
          <p:nvSpPr>
            <p:cNvPr id="38" name="Google Shape;38;p6"/>
            <p:cNvSpPr/>
            <p:nvPr/>
          </p:nvSpPr>
          <p:spPr>
            <a:xfrm flipH="1">
              <a:off x="1893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6"/>
            <p:cNvSpPr/>
            <p:nvPr/>
          </p:nvSpPr>
          <p:spPr>
            <a:xfrm flipH="1"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0" name="Google Shape;40;p6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659775" y="1342850"/>
            <a:ext cx="377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4659775" y="2052300"/>
            <a:ext cx="3771000" cy="18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>
            <a:spLocks noGrp="1"/>
          </p:cNvSpPr>
          <p:nvPr>
            <p:ph type="pic" idx="2"/>
          </p:nvPr>
        </p:nvSpPr>
        <p:spPr>
          <a:xfrm>
            <a:off x="713225" y="909025"/>
            <a:ext cx="3392700" cy="33927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45" name="Google Shape;45;p7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713225" y="833875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8" name="Google Shape;48;p8"/>
          <p:cNvGrpSpPr/>
          <p:nvPr/>
        </p:nvGrpSpPr>
        <p:grpSpPr>
          <a:xfrm>
            <a:off x="0" y="4004553"/>
            <a:ext cx="9144090" cy="1148819"/>
            <a:chOff x="0" y="3994700"/>
            <a:chExt cx="9144090" cy="1148819"/>
          </a:xfrm>
        </p:grpSpPr>
        <p:sp>
          <p:nvSpPr>
            <p:cNvPr id="49" name="Google Shape;49;p8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8"/>
            <p:cNvSpPr/>
            <p:nvPr/>
          </p:nvSpPr>
          <p:spPr>
            <a:xfrm>
              <a:off x="0" y="3994700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" name="Google Shape;51;p8"/>
          <p:cNvCxnSpPr/>
          <p:nvPr/>
        </p:nvCxnSpPr>
        <p:spPr>
          <a:xfrm>
            <a:off x="716625" y="574625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713225" y="120365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713225" y="316805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9"/>
          <p:cNvGrpSpPr/>
          <p:nvPr/>
        </p:nvGrpSpPr>
        <p:grpSpPr>
          <a:xfrm flipH="1">
            <a:off x="0" y="4004553"/>
            <a:ext cx="9144090" cy="1148819"/>
            <a:chOff x="0" y="3994700"/>
            <a:chExt cx="9144090" cy="1148819"/>
          </a:xfrm>
        </p:grpSpPr>
        <p:sp>
          <p:nvSpPr>
            <p:cNvPr id="56" name="Google Shape;56;p9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>
              <a:off x="0" y="3994700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" name="Google Shape;58;p9"/>
          <p:cNvCxnSpPr/>
          <p:nvPr/>
        </p:nvCxnSpPr>
        <p:spPr>
          <a:xfrm>
            <a:off x="716625" y="574625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>
            <a:spLocks noGrp="1"/>
          </p:cNvSpPr>
          <p:nvPr>
            <p:ph type="pic" idx="2"/>
          </p:nvPr>
        </p:nvSpPr>
        <p:spPr>
          <a:xfrm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716625" y="574625"/>
            <a:ext cx="3037500" cy="913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4210475" y="1654425"/>
            <a:ext cx="4223400" cy="9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subTitle" idx="1"/>
          </p:nvPr>
        </p:nvSpPr>
        <p:spPr>
          <a:xfrm>
            <a:off x="4210475" y="2678875"/>
            <a:ext cx="2809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11"/>
          <p:cNvSpPr>
            <a:spLocks noGrp="1"/>
          </p:cNvSpPr>
          <p:nvPr>
            <p:ph type="pic" idx="2"/>
          </p:nvPr>
        </p:nvSpPr>
        <p:spPr>
          <a:xfrm>
            <a:off x="713225" y="932100"/>
            <a:ext cx="3279300" cy="32793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09798"/>
            <a:ext cx="734700" cy="53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937652"/>
            <a:ext cx="734700" cy="53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1309798"/>
            <a:ext cx="734700" cy="53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75" y="2937652"/>
            <a:ext cx="734700" cy="53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309798"/>
            <a:ext cx="734700" cy="53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2937652"/>
            <a:ext cx="734700" cy="53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720000" y="1864487"/>
            <a:ext cx="23055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8"/>
          </p:nvPr>
        </p:nvSpPr>
        <p:spPr>
          <a:xfrm>
            <a:off x="3419275" y="1864487"/>
            <a:ext cx="23055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9"/>
          </p:nvPr>
        </p:nvSpPr>
        <p:spPr>
          <a:xfrm>
            <a:off x="6118550" y="1864487"/>
            <a:ext cx="23055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3"/>
          </p:nvPr>
        </p:nvSpPr>
        <p:spPr>
          <a:xfrm>
            <a:off x="720000" y="3492262"/>
            <a:ext cx="23055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4"/>
          </p:nvPr>
        </p:nvSpPr>
        <p:spPr>
          <a:xfrm>
            <a:off x="3419275" y="3492262"/>
            <a:ext cx="23055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5"/>
          </p:nvPr>
        </p:nvSpPr>
        <p:spPr>
          <a:xfrm>
            <a:off x="6118550" y="3492262"/>
            <a:ext cx="23055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81" name="Google Shape;81;p13"/>
          <p:cNvGrpSpPr/>
          <p:nvPr/>
        </p:nvGrpSpPr>
        <p:grpSpPr>
          <a:xfrm>
            <a:off x="-8" y="4387040"/>
            <a:ext cx="9143908" cy="764272"/>
            <a:chOff x="-8" y="4379259"/>
            <a:chExt cx="9143908" cy="764272"/>
          </a:xfrm>
        </p:grpSpPr>
        <p:sp>
          <p:nvSpPr>
            <p:cNvPr id="82" name="Google Shape;82;p13"/>
            <p:cNvSpPr/>
            <p:nvPr/>
          </p:nvSpPr>
          <p:spPr>
            <a:xfrm>
              <a:off x="1816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103E4C"/>
                </a:solidFill>
              </a:endParaRPr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4" name="Google Shape;84;p13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>
            <a:spLocks noGrp="1"/>
          </p:cNvSpPr>
          <p:nvPr>
            <p:ph type="pic" idx="2"/>
          </p:nvPr>
        </p:nvSpPr>
        <p:spPr>
          <a:xfrm>
            <a:off x="5629825" y="570526"/>
            <a:ext cx="2801100" cy="17514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4"/>
          <p:cNvSpPr>
            <a:spLocks noGrp="1"/>
          </p:cNvSpPr>
          <p:nvPr>
            <p:ph type="pic" idx="3"/>
          </p:nvPr>
        </p:nvSpPr>
        <p:spPr>
          <a:xfrm>
            <a:off x="713225" y="1733175"/>
            <a:ext cx="2393400" cy="28356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4"/>
          <p:cNvSpPr>
            <a:spLocks noGrp="1"/>
          </p:cNvSpPr>
          <p:nvPr>
            <p:ph type="pic" idx="4"/>
          </p:nvPr>
        </p:nvSpPr>
        <p:spPr>
          <a:xfrm>
            <a:off x="5629825" y="2433825"/>
            <a:ext cx="2801100" cy="21348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4"/>
          <p:cNvSpPr>
            <a:spLocks noGrp="1"/>
          </p:cNvSpPr>
          <p:nvPr>
            <p:ph type="pic" idx="5"/>
          </p:nvPr>
        </p:nvSpPr>
        <p:spPr>
          <a:xfrm>
            <a:off x="3212275" y="1733175"/>
            <a:ext cx="2312700" cy="2835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0" name="Google Shape;90;p14"/>
          <p:cNvGrpSpPr/>
          <p:nvPr/>
        </p:nvGrpSpPr>
        <p:grpSpPr>
          <a:xfrm>
            <a:off x="-8" y="4387805"/>
            <a:ext cx="9143908" cy="764272"/>
            <a:chOff x="-8" y="4379259"/>
            <a:chExt cx="9143908" cy="764272"/>
          </a:xfrm>
        </p:grpSpPr>
        <p:sp>
          <p:nvSpPr>
            <p:cNvPr id="91" name="Google Shape;91;p14"/>
            <p:cNvSpPr/>
            <p:nvPr/>
          </p:nvSpPr>
          <p:spPr>
            <a:xfrm>
              <a:off x="1816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13225" y="574694"/>
            <a:ext cx="21036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1"/>
          </p:nvPr>
        </p:nvSpPr>
        <p:spPr>
          <a:xfrm>
            <a:off x="2974275" y="574619"/>
            <a:ext cx="24981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6766500" cy="23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98" name="Google Shape;98;p15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1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3575700" cy="29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2"/>
          </p:nvPr>
        </p:nvSpPr>
        <p:spPr>
          <a:xfrm>
            <a:off x="4855075" y="1997051"/>
            <a:ext cx="35757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u="sng"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103" name="Google Shape;103;p16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ubTitle" idx="1"/>
          </p:nvPr>
        </p:nvSpPr>
        <p:spPr>
          <a:xfrm>
            <a:off x="722475" y="2821715"/>
            <a:ext cx="24186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2"/>
          </p:nvPr>
        </p:nvSpPr>
        <p:spPr>
          <a:xfrm>
            <a:off x="3269200" y="2821715"/>
            <a:ext cx="24186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3"/>
          </p:nvPr>
        </p:nvSpPr>
        <p:spPr>
          <a:xfrm>
            <a:off x="5815925" y="2821715"/>
            <a:ext cx="24186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4"/>
          </p:nvPr>
        </p:nvSpPr>
        <p:spPr>
          <a:xfrm>
            <a:off x="722475" y="2382817"/>
            <a:ext cx="24186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5"/>
          </p:nvPr>
        </p:nvSpPr>
        <p:spPr>
          <a:xfrm>
            <a:off x="3269204" y="2382817"/>
            <a:ext cx="24186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6"/>
          </p:nvPr>
        </p:nvSpPr>
        <p:spPr>
          <a:xfrm>
            <a:off x="5815926" y="2382817"/>
            <a:ext cx="24186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12" name="Google Shape;112;p17"/>
          <p:cNvGrpSpPr/>
          <p:nvPr/>
        </p:nvGrpSpPr>
        <p:grpSpPr>
          <a:xfrm>
            <a:off x="-8" y="4379259"/>
            <a:ext cx="9143908" cy="764272"/>
            <a:chOff x="-8" y="4379259"/>
            <a:chExt cx="9143908" cy="764272"/>
          </a:xfrm>
        </p:grpSpPr>
        <p:sp>
          <p:nvSpPr>
            <p:cNvPr id="113" name="Google Shape;113;p17"/>
            <p:cNvSpPr/>
            <p:nvPr/>
          </p:nvSpPr>
          <p:spPr>
            <a:xfrm>
              <a:off x="1816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" name="Google Shape;115;p17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ubTitle" idx="1"/>
          </p:nvPr>
        </p:nvSpPr>
        <p:spPr>
          <a:xfrm>
            <a:off x="719325" y="1825100"/>
            <a:ext cx="3553200" cy="6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subTitle" idx="2"/>
          </p:nvPr>
        </p:nvSpPr>
        <p:spPr>
          <a:xfrm>
            <a:off x="4824279" y="1825100"/>
            <a:ext cx="3553200" cy="6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3"/>
          </p:nvPr>
        </p:nvSpPr>
        <p:spPr>
          <a:xfrm>
            <a:off x="719400" y="3333275"/>
            <a:ext cx="3553200" cy="6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4"/>
          </p:nvPr>
        </p:nvSpPr>
        <p:spPr>
          <a:xfrm>
            <a:off x="4824275" y="3333275"/>
            <a:ext cx="3553200" cy="6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subTitle" idx="5"/>
          </p:nvPr>
        </p:nvSpPr>
        <p:spPr>
          <a:xfrm>
            <a:off x="719324" y="1455550"/>
            <a:ext cx="3553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ubTitle" idx="6"/>
          </p:nvPr>
        </p:nvSpPr>
        <p:spPr>
          <a:xfrm>
            <a:off x="719407" y="2963800"/>
            <a:ext cx="3553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subTitle" idx="7"/>
          </p:nvPr>
        </p:nvSpPr>
        <p:spPr>
          <a:xfrm>
            <a:off x="4824249" y="1455550"/>
            <a:ext cx="3553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subTitle" idx="8"/>
          </p:nvPr>
        </p:nvSpPr>
        <p:spPr>
          <a:xfrm>
            <a:off x="4824249" y="2963800"/>
            <a:ext cx="3553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26" name="Google Shape;126;p18"/>
          <p:cNvGrpSpPr/>
          <p:nvPr/>
        </p:nvGrpSpPr>
        <p:grpSpPr>
          <a:xfrm>
            <a:off x="-8" y="4379259"/>
            <a:ext cx="9143908" cy="764272"/>
            <a:chOff x="-8" y="4379259"/>
            <a:chExt cx="9143908" cy="764272"/>
          </a:xfrm>
        </p:grpSpPr>
        <p:sp>
          <p:nvSpPr>
            <p:cNvPr id="127" name="Google Shape;127;p18"/>
            <p:cNvSpPr/>
            <p:nvPr/>
          </p:nvSpPr>
          <p:spPr>
            <a:xfrm flipH="1">
              <a:off x="1893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 flipH="1"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9" name="Google Shape;129;p18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1"/>
          </p:nvPr>
        </p:nvSpPr>
        <p:spPr>
          <a:xfrm>
            <a:off x="720000" y="1617269"/>
            <a:ext cx="23913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2"/>
          </p:nvPr>
        </p:nvSpPr>
        <p:spPr>
          <a:xfrm>
            <a:off x="3373744" y="1617266"/>
            <a:ext cx="23913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3"/>
          </p:nvPr>
        </p:nvSpPr>
        <p:spPr>
          <a:xfrm>
            <a:off x="720000" y="3296867"/>
            <a:ext cx="23913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subTitle" idx="4"/>
          </p:nvPr>
        </p:nvSpPr>
        <p:spPr>
          <a:xfrm>
            <a:off x="3373744" y="3296867"/>
            <a:ext cx="23913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ubTitle" idx="5"/>
          </p:nvPr>
        </p:nvSpPr>
        <p:spPr>
          <a:xfrm>
            <a:off x="6030863" y="1617266"/>
            <a:ext cx="23913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6"/>
          </p:nvPr>
        </p:nvSpPr>
        <p:spPr>
          <a:xfrm>
            <a:off x="6030863" y="3296867"/>
            <a:ext cx="23913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7"/>
          </p:nvPr>
        </p:nvSpPr>
        <p:spPr>
          <a:xfrm>
            <a:off x="720000" y="1302487"/>
            <a:ext cx="2391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8"/>
          </p:nvPr>
        </p:nvSpPr>
        <p:spPr>
          <a:xfrm>
            <a:off x="3373744" y="1302487"/>
            <a:ext cx="2391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9"/>
          </p:nvPr>
        </p:nvSpPr>
        <p:spPr>
          <a:xfrm>
            <a:off x="6030863" y="1302487"/>
            <a:ext cx="2391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13"/>
          </p:nvPr>
        </p:nvSpPr>
        <p:spPr>
          <a:xfrm>
            <a:off x="720000" y="2978890"/>
            <a:ext cx="2391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subTitle" idx="14"/>
          </p:nvPr>
        </p:nvSpPr>
        <p:spPr>
          <a:xfrm>
            <a:off x="3373744" y="2978888"/>
            <a:ext cx="2391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subTitle" idx="15"/>
          </p:nvPr>
        </p:nvSpPr>
        <p:spPr>
          <a:xfrm>
            <a:off x="6030863" y="2978888"/>
            <a:ext cx="2391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44" name="Google Shape;144;p19"/>
          <p:cNvGrpSpPr/>
          <p:nvPr/>
        </p:nvGrpSpPr>
        <p:grpSpPr>
          <a:xfrm>
            <a:off x="-8" y="4379259"/>
            <a:ext cx="9143908" cy="764272"/>
            <a:chOff x="-8" y="4379259"/>
            <a:chExt cx="9143908" cy="764272"/>
          </a:xfrm>
        </p:grpSpPr>
        <p:sp>
          <p:nvSpPr>
            <p:cNvPr id="145" name="Google Shape;145;p19"/>
            <p:cNvSpPr/>
            <p:nvPr/>
          </p:nvSpPr>
          <p:spPr>
            <a:xfrm>
              <a:off x="1816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47" name="Google Shape;147;p19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150" name="Google Shape;150;p20"/>
          <p:cNvGrpSpPr/>
          <p:nvPr/>
        </p:nvGrpSpPr>
        <p:grpSpPr>
          <a:xfrm>
            <a:off x="-8" y="4387805"/>
            <a:ext cx="9143908" cy="764272"/>
            <a:chOff x="-8" y="4379259"/>
            <a:chExt cx="9143908" cy="764272"/>
          </a:xfrm>
        </p:grpSpPr>
        <p:sp>
          <p:nvSpPr>
            <p:cNvPr id="151" name="Google Shape;151;p20"/>
            <p:cNvSpPr/>
            <p:nvPr/>
          </p:nvSpPr>
          <p:spPr>
            <a:xfrm>
              <a:off x="1816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0"/>
            <p:cNvSpPr/>
            <p:nvPr/>
          </p:nvSpPr>
          <p:spPr>
            <a:xfrm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3" name="Google Shape;153;p20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720800" y="569250"/>
            <a:ext cx="3851100" cy="8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1"/>
          </p:nvPr>
        </p:nvSpPr>
        <p:spPr>
          <a:xfrm>
            <a:off x="720805" y="1536650"/>
            <a:ext cx="3851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1"/>
          <p:cNvSpPr>
            <a:spLocks noGrp="1"/>
          </p:cNvSpPr>
          <p:nvPr>
            <p:ph type="pic" idx="2"/>
          </p:nvPr>
        </p:nvSpPr>
        <p:spPr>
          <a:xfrm>
            <a:off x="5078450" y="849238"/>
            <a:ext cx="3200400" cy="32004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158" name="Google Shape;158;p21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" name="Google Shape;159;p21"/>
          <p:cNvSpPr txBox="1"/>
          <p:nvPr/>
        </p:nvSpPr>
        <p:spPr>
          <a:xfrm>
            <a:off x="720225" y="3567671"/>
            <a:ext cx="3392700" cy="6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000"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2"/>
          <p:cNvGrpSpPr/>
          <p:nvPr/>
        </p:nvGrpSpPr>
        <p:grpSpPr>
          <a:xfrm>
            <a:off x="0" y="4004553"/>
            <a:ext cx="9144090" cy="1148819"/>
            <a:chOff x="0" y="3994700"/>
            <a:chExt cx="9144090" cy="1148819"/>
          </a:xfrm>
        </p:grpSpPr>
        <p:sp>
          <p:nvSpPr>
            <p:cNvPr id="162" name="Google Shape;162;p22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2"/>
            <p:cNvSpPr/>
            <p:nvPr/>
          </p:nvSpPr>
          <p:spPr>
            <a:xfrm>
              <a:off x="0" y="3994700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4" name="Google Shape;164;p22"/>
          <p:cNvCxnSpPr/>
          <p:nvPr/>
        </p:nvCxnSpPr>
        <p:spPr>
          <a:xfrm>
            <a:off x="716625" y="574625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23"/>
          <p:cNvGrpSpPr/>
          <p:nvPr/>
        </p:nvGrpSpPr>
        <p:grpSpPr>
          <a:xfrm flipH="1">
            <a:off x="-8" y="4387805"/>
            <a:ext cx="9143908" cy="764272"/>
            <a:chOff x="-8" y="4379259"/>
            <a:chExt cx="9143908" cy="764272"/>
          </a:xfrm>
        </p:grpSpPr>
        <p:sp>
          <p:nvSpPr>
            <p:cNvPr id="167" name="Google Shape;167;p23"/>
            <p:cNvSpPr/>
            <p:nvPr/>
          </p:nvSpPr>
          <p:spPr>
            <a:xfrm>
              <a:off x="1816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9" name="Google Shape;169;p23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ettyimages.com/detail/news-photo/an-aerial-view-of-the-flooded-dhaka-chittagong-highway-in-news-photo/2167199159?adppopup=tru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guardian.com/australia-news/2022/mar/04/before-and-after-aerial-pictures-show-how-floods-swept-through-queensland-and-nsw-town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bc.ca/news/canada/british-columbia/bc-floods-sumas-prairie-before-after-images-1.625880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5.03273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ctrTitle"/>
          </p:nvPr>
        </p:nvSpPr>
        <p:spPr>
          <a:xfrm>
            <a:off x="683650" y="1119675"/>
            <a:ext cx="7694700" cy="137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Flood Induced Economic Damage Assessment from Satellite Imagery using Vision Transformers 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subTitle" idx="1"/>
          </p:nvPr>
        </p:nvSpPr>
        <p:spPr>
          <a:xfrm>
            <a:off x="978450" y="2633650"/>
            <a:ext cx="29568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Md. Ashrif Rahman Arian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North South University,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Dhaka, Bangladesh</a:t>
            </a:r>
            <a:endParaRPr sz="1200" dirty="0"/>
          </a:p>
        </p:txBody>
      </p:sp>
      <p:grpSp>
        <p:nvGrpSpPr>
          <p:cNvPr id="176" name="Google Shape;176;p24"/>
          <p:cNvGrpSpPr/>
          <p:nvPr/>
        </p:nvGrpSpPr>
        <p:grpSpPr>
          <a:xfrm>
            <a:off x="-50" y="4127553"/>
            <a:ext cx="9144090" cy="1148819"/>
            <a:chOff x="0" y="3994700"/>
            <a:chExt cx="9144090" cy="1148819"/>
          </a:xfrm>
        </p:grpSpPr>
        <p:sp>
          <p:nvSpPr>
            <p:cNvPr id="177" name="Google Shape;177;p24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0" y="3994700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4"/>
          <p:cNvSpPr txBox="1">
            <a:spLocks noGrp="1"/>
          </p:cNvSpPr>
          <p:nvPr>
            <p:ph type="subTitle" idx="1"/>
          </p:nvPr>
        </p:nvSpPr>
        <p:spPr>
          <a:xfrm>
            <a:off x="5208750" y="2633650"/>
            <a:ext cx="29568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Md. Mehedi Hasan Shishir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North South University,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Dhaka, Bangladesh</a:t>
            </a:r>
            <a:endParaRPr sz="1200"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1"/>
          </p:nvPr>
        </p:nvSpPr>
        <p:spPr>
          <a:xfrm>
            <a:off x="978450" y="3528850"/>
            <a:ext cx="32889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Sadman Islam Chowdhury Samin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North South University,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Dhaka, Bangladesh</a:t>
            </a:r>
            <a:endParaRPr sz="1200"/>
          </a:p>
        </p:txBody>
      </p:sp>
      <p:sp>
        <p:nvSpPr>
          <p:cNvPr id="181" name="Google Shape;181;p24"/>
          <p:cNvSpPr txBox="1">
            <a:spLocks noGrp="1"/>
          </p:cNvSpPr>
          <p:nvPr>
            <p:ph type="subTitle" idx="1"/>
          </p:nvPr>
        </p:nvSpPr>
        <p:spPr>
          <a:xfrm>
            <a:off x="5208750" y="3528850"/>
            <a:ext cx="29568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Shahnewaz Siddique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North South University,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Dhaka, Bangladesh</a:t>
            </a:r>
            <a:endParaRPr sz="1200"/>
          </a:p>
        </p:txBody>
      </p:sp>
      <p:sp>
        <p:nvSpPr>
          <p:cNvPr id="182" name="Google Shape;182;p24"/>
          <p:cNvSpPr txBox="1"/>
          <p:nvPr/>
        </p:nvSpPr>
        <p:spPr>
          <a:xfrm>
            <a:off x="1918075" y="750375"/>
            <a:ext cx="574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IEEE Region 10 Conference 2025 (TENCON 2025) 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88" name="Google Shape;188;p25"/>
          <p:cNvSpPr txBox="1">
            <a:spLocks noGrp="1"/>
          </p:cNvSpPr>
          <p:nvPr>
            <p:ph type="title" idx="2"/>
          </p:nvPr>
        </p:nvSpPr>
        <p:spPr>
          <a:xfrm>
            <a:off x="1047900" y="1176398"/>
            <a:ext cx="7347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9" name="Google Shape;189;p25"/>
          <p:cNvSpPr txBox="1">
            <a:spLocks noGrp="1"/>
          </p:cNvSpPr>
          <p:nvPr>
            <p:ph type="title" idx="3"/>
          </p:nvPr>
        </p:nvSpPr>
        <p:spPr>
          <a:xfrm>
            <a:off x="797025" y="2395689"/>
            <a:ext cx="7347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title" idx="4"/>
          </p:nvPr>
        </p:nvSpPr>
        <p:spPr>
          <a:xfrm>
            <a:off x="3634413" y="1176398"/>
            <a:ext cx="7347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1" name="Google Shape;191;p25"/>
          <p:cNvSpPr txBox="1">
            <a:spLocks noGrp="1"/>
          </p:cNvSpPr>
          <p:nvPr>
            <p:ph type="title" idx="5"/>
          </p:nvPr>
        </p:nvSpPr>
        <p:spPr>
          <a:xfrm>
            <a:off x="2618688" y="2401902"/>
            <a:ext cx="7347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title" idx="6"/>
          </p:nvPr>
        </p:nvSpPr>
        <p:spPr>
          <a:xfrm>
            <a:off x="6575525" y="1130448"/>
            <a:ext cx="7347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title" idx="7"/>
          </p:nvPr>
        </p:nvSpPr>
        <p:spPr>
          <a:xfrm>
            <a:off x="4729800" y="2427327"/>
            <a:ext cx="7347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subTitle" idx="1"/>
          </p:nvPr>
        </p:nvSpPr>
        <p:spPr>
          <a:xfrm>
            <a:off x="1047900" y="1600142"/>
            <a:ext cx="23055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subTitle" idx="8"/>
          </p:nvPr>
        </p:nvSpPr>
        <p:spPr>
          <a:xfrm>
            <a:off x="3634425" y="1600154"/>
            <a:ext cx="23055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  &amp; Research Gaps</a:t>
            </a:r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subTitle" idx="9"/>
          </p:nvPr>
        </p:nvSpPr>
        <p:spPr>
          <a:xfrm>
            <a:off x="6575525" y="1679650"/>
            <a:ext cx="22737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Methodology</a:t>
            </a:r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subTitle" idx="13"/>
          </p:nvPr>
        </p:nvSpPr>
        <p:spPr>
          <a:xfrm>
            <a:off x="797025" y="2932388"/>
            <a:ext cx="1557900" cy="39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ubTitle" idx="14"/>
          </p:nvPr>
        </p:nvSpPr>
        <p:spPr>
          <a:xfrm>
            <a:off x="2618700" y="2932389"/>
            <a:ext cx="1927500" cy="6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Architecture</a:t>
            </a:r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subTitle" idx="15"/>
          </p:nvPr>
        </p:nvSpPr>
        <p:spPr>
          <a:xfrm>
            <a:off x="4729800" y="2878253"/>
            <a:ext cx="23055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Setup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title" idx="3"/>
          </p:nvPr>
        </p:nvSpPr>
        <p:spPr>
          <a:xfrm>
            <a:off x="6932525" y="2427325"/>
            <a:ext cx="8100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title" idx="5"/>
          </p:nvPr>
        </p:nvSpPr>
        <p:spPr>
          <a:xfrm>
            <a:off x="1158488" y="3706627"/>
            <a:ext cx="7347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title" idx="7"/>
          </p:nvPr>
        </p:nvSpPr>
        <p:spPr>
          <a:xfrm>
            <a:off x="3939975" y="3706627"/>
            <a:ext cx="7347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203" name="Google Shape;203;p25"/>
          <p:cNvSpPr txBox="1">
            <a:spLocks noGrp="1"/>
          </p:cNvSpPr>
          <p:nvPr>
            <p:ph type="subTitle" idx="13"/>
          </p:nvPr>
        </p:nvSpPr>
        <p:spPr>
          <a:xfrm>
            <a:off x="6932525" y="2970226"/>
            <a:ext cx="1557900" cy="39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04" name="Google Shape;204;p25"/>
          <p:cNvSpPr txBox="1">
            <a:spLocks noGrp="1"/>
          </p:cNvSpPr>
          <p:nvPr>
            <p:ph type="subTitle" idx="14"/>
          </p:nvPr>
        </p:nvSpPr>
        <p:spPr>
          <a:xfrm>
            <a:off x="1158488" y="42526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Damage Estimation</a:t>
            </a:r>
            <a:endParaRPr/>
          </a:p>
        </p:txBody>
      </p:sp>
      <p:sp>
        <p:nvSpPr>
          <p:cNvPr id="205" name="Google Shape;205;p25"/>
          <p:cNvSpPr txBox="1">
            <a:spLocks noGrp="1"/>
          </p:cNvSpPr>
          <p:nvPr>
            <p:ph type="subTitle" idx="15"/>
          </p:nvPr>
        </p:nvSpPr>
        <p:spPr>
          <a:xfrm>
            <a:off x="3956700" y="4154825"/>
            <a:ext cx="22737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&amp; Future Work</a:t>
            </a:r>
            <a:endParaRPr/>
          </a:p>
        </p:txBody>
      </p:sp>
      <p:sp>
        <p:nvSpPr>
          <p:cNvPr id="206" name="Google Shape;206;p25"/>
          <p:cNvSpPr txBox="1">
            <a:spLocks noGrp="1"/>
          </p:cNvSpPr>
          <p:nvPr>
            <p:ph type="title" idx="3"/>
          </p:nvPr>
        </p:nvSpPr>
        <p:spPr>
          <a:xfrm>
            <a:off x="6723100" y="3706625"/>
            <a:ext cx="8100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subTitle" idx="13"/>
          </p:nvPr>
        </p:nvSpPr>
        <p:spPr>
          <a:xfrm>
            <a:off x="6723100" y="4243326"/>
            <a:ext cx="1557900" cy="39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subTitle" idx="2"/>
          </p:nvPr>
        </p:nvSpPr>
        <p:spPr>
          <a:xfrm>
            <a:off x="1032500" y="2080125"/>
            <a:ext cx="3908100" cy="2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Floods severely impact lives, livelihoods, agriculture and infrastructure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Floods cause worldwide $40 billion damages annually</a:t>
            </a:r>
            <a:endParaRPr sz="15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500"/>
              <a:t>Traditional ground surveys are slow, costly, and infeasible in many regions</a:t>
            </a:r>
            <a:endParaRPr sz="15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ubTitle" idx="3"/>
          </p:nvPr>
        </p:nvSpPr>
        <p:spPr>
          <a:xfrm>
            <a:off x="1032500" y="1642738"/>
            <a:ext cx="3568200" cy="4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Motivation</a:t>
            </a:r>
            <a:endParaRPr sz="2000"/>
          </a:p>
        </p:txBody>
      </p:sp>
      <p:pic>
        <p:nvPicPr>
          <p:cNvPr id="215" name="Google Shape;215;p26" title="gettyimages-2167199342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263" y="1150087"/>
            <a:ext cx="3791075" cy="28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6"/>
          <p:cNvSpPr txBox="1"/>
          <p:nvPr/>
        </p:nvSpPr>
        <p:spPr>
          <a:xfrm>
            <a:off x="5027613" y="3993400"/>
            <a:ext cx="3842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Image source: Getty Image </a:t>
            </a:r>
            <a:r>
              <a:rPr lang="en" sz="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en" sz="8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https://www.gettyimages.com/detail/news-photo/an-aerial-view-of-the-flooded-dhaka-chittagong-highway-in-news-photo/2167199159?adppopup=true</a:t>
            </a:r>
            <a:r>
              <a:rPr lang="en" sz="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subTitle" idx="2"/>
          </p:nvPr>
        </p:nvSpPr>
        <p:spPr>
          <a:xfrm>
            <a:off x="1032500" y="2080125"/>
            <a:ext cx="3631500" cy="17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To develop an automated framework using Vision Transformers (SegFormer B3) on satellite imagery to accurately segment land cover changes and provide reliable estimates of flood-induced economic damage.</a:t>
            </a:r>
            <a:endParaRPr sz="15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subTitle" idx="3"/>
          </p:nvPr>
        </p:nvSpPr>
        <p:spPr>
          <a:xfrm>
            <a:off x="1032500" y="1642738"/>
            <a:ext cx="3568200" cy="4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Objective</a:t>
            </a:r>
            <a:endParaRPr sz="2000"/>
          </a:p>
        </p:txBody>
      </p:sp>
      <p:sp>
        <p:nvSpPr>
          <p:cNvPr id="224" name="Google Shape;224;p27"/>
          <p:cNvSpPr txBox="1"/>
          <p:nvPr/>
        </p:nvSpPr>
        <p:spPr>
          <a:xfrm>
            <a:off x="4908563" y="3989875"/>
            <a:ext cx="3842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Image source: The Guardian </a:t>
            </a:r>
            <a:r>
              <a:rPr lang="en" sz="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en" sz="8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https://www.theguardian.com/australia-news/2022/mar/04/before-and-after-aerial-pictures-show-how-floods-swept-through-queensland-and-nsw-towns</a:t>
            </a:r>
            <a:r>
              <a:rPr lang="en" sz="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 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5" name="Google Shape;225;p27" title="beforeAft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9475" y="639350"/>
            <a:ext cx="3114524" cy="335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>
            <a:spLocks noGrp="1"/>
          </p:cNvSpPr>
          <p:nvPr>
            <p:ph type="title"/>
          </p:nvPr>
        </p:nvSpPr>
        <p:spPr>
          <a:xfrm>
            <a:off x="720000" y="404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</a:t>
            </a:r>
            <a:endParaRPr/>
          </a:p>
        </p:txBody>
      </p:sp>
      <p:graphicFrame>
        <p:nvGraphicFramePr>
          <p:cNvPr id="231" name="Google Shape;231;p28"/>
          <p:cNvGraphicFramePr/>
          <p:nvPr/>
        </p:nvGraphicFramePr>
        <p:xfrm>
          <a:off x="809050" y="976750"/>
          <a:ext cx="8108975" cy="4129920"/>
        </p:xfrm>
        <a:graphic>
          <a:graphicData uri="http://schemas.openxmlformats.org/drawingml/2006/table">
            <a:tbl>
              <a:tblPr>
                <a:noFill/>
                <a:tableStyleId>{0B556BAD-9C1E-4580-962F-8F6337644726}</a:tableStyleId>
              </a:tblPr>
              <a:tblGrid>
                <a:gridCol w="6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Paper Title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Author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Published in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2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Semantic Segmentation using Vision Transformers: A survey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Hans Thisanke, Chamli Deshan, Kavindu Chamith, Sachith Seneviratne, Rajith Vidanaarachchi, Damayanthi Herath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Engineering Applications of Artificial Intelligence.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authors surveyed the viT in the semantic segmentation task and got an accuracy of 88.55% in ImageNet dataset and 94.55% on CIFAR-100 dataset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MeViT: A Medium-Resolution Vision Transformer for Semantic Segmentation on Landsat Satellite Imagery for Agriculture in Thailand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Teerapong Panboonyuen, Chaiyut Charoenphon, Chalermchon Satirapod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Remote Sensing, volume 15, issue 21, article number 5124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Medium-Resolution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ViT was proposed for semantic segmentation on Landsat imagery which achieved higher value of  precision (92.22%), recall (94.69%)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2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Extended Vision Transformer (ExViT) for Land Use and Land Cover Classification: A Multimodal Deep Learning Framework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Jing Yao,  Bing Zhang,  Chenyu Li, Danfeng Hong,  Jocelyn Chanussot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IEEE Transactions on Geoscience and Remote Sensing ( Volume: 61)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ExViT achieved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state-of-the-art results in land-use and land-cover classification using multimodal data</a:t>
                      </a:r>
                      <a:endParaRPr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Gap</a:t>
            </a:r>
            <a:endParaRPr/>
          </a:p>
        </p:txBody>
      </p:sp>
      <p:sp>
        <p:nvSpPr>
          <p:cNvPr id="237" name="Google Shape;237;p29"/>
          <p:cNvSpPr txBox="1">
            <a:spLocks noGrp="1"/>
          </p:cNvSpPr>
          <p:nvPr>
            <p:ph type="subTitle" idx="2"/>
          </p:nvPr>
        </p:nvSpPr>
        <p:spPr>
          <a:xfrm>
            <a:off x="1052975" y="1678350"/>
            <a:ext cx="3631500" cy="17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Prior studies focus mainly on classification or segmentation</a:t>
            </a:r>
            <a:endParaRPr sz="15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 existing work directly estimates economic damage of floods from satellite imagery</a:t>
            </a:r>
            <a:endParaRPr sz="1500"/>
          </a:p>
        </p:txBody>
      </p:sp>
      <p:sp>
        <p:nvSpPr>
          <p:cNvPr id="238" name="Google Shape;238;p29"/>
          <p:cNvSpPr txBox="1"/>
          <p:nvPr/>
        </p:nvSpPr>
        <p:spPr>
          <a:xfrm>
            <a:off x="4793988" y="3928400"/>
            <a:ext cx="3842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Before and After Flood Image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Image source: CBC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en" sz="8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https://www.cbc.ca/news/canada/british-columbia/bc-floods-sumas-prairie-before-after-images-1.6258803</a:t>
            </a:r>
            <a:r>
              <a:rPr lang="en" sz="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) 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9" name="Google Shape;239;p29" title="Picture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6250" y="1206875"/>
            <a:ext cx="4237876" cy="267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Methodology</a:t>
            </a:r>
            <a:endParaRPr/>
          </a:p>
        </p:txBody>
      </p:sp>
      <p:sp>
        <p:nvSpPr>
          <p:cNvPr id="245" name="Google Shape;245;p30"/>
          <p:cNvSpPr txBox="1">
            <a:spLocks noGrp="1"/>
          </p:cNvSpPr>
          <p:nvPr>
            <p:ph type="subTitle" idx="2"/>
          </p:nvPr>
        </p:nvSpPr>
        <p:spPr>
          <a:xfrm>
            <a:off x="1052975" y="1485850"/>
            <a:ext cx="2627400" cy="29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Input before and after flood image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Preprocessing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Apply semantic segmentation using Segformer B3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Measure area loss per land cover class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Assign economic value to each class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Compute flood induced damage</a:t>
            </a:r>
            <a:endParaRPr sz="1500"/>
          </a:p>
        </p:txBody>
      </p:sp>
      <p:sp>
        <p:nvSpPr>
          <p:cNvPr id="246" name="Google Shape;246;p30"/>
          <p:cNvSpPr txBox="1"/>
          <p:nvPr/>
        </p:nvSpPr>
        <p:spPr>
          <a:xfrm>
            <a:off x="4332913" y="3969375"/>
            <a:ext cx="3842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Figure: Proposed Methodology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7" name="Google Shape;247;p30" title="methodology_enlarg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9150" y="1630800"/>
            <a:ext cx="5025950" cy="229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31"/>
          <p:cNvGrpSpPr/>
          <p:nvPr/>
        </p:nvGrpSpPr>
        <p:grpSpPr>
          <a:xfrm>
            <a:off x="0" y="3992625"/>
            <a:ext cx="9144090" cy="1150894"/>
            <a:chOff x="0" y="3992625"/>
            <a:chExt cx="9144090" cy="1150894"/>
          </a:xfrm>
        </p:grpSpPr>
        <p:sp>
          <p:nvSpPr>
            <p:cNvPr id="253" name="Google Shape;253;p31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0" y="3992625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5" name="Google Shape;2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550" y="1467900"/>
            <a:ext cx="7903325" cy="24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All the Formulas Used in Methodology</a:t>
            </a:r>
            <a:endParaRPr sz="2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</a:t>
            </a:r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subTitle" idx="4"/>
          </p:nvPr>
        </p:nvSpPr>
        <p:spPr>
          <a:xfrm>
            <a:off x="814675" y="2698825"/>
            <a:ext cx="3531600" cy="63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DeepGlobe Land Cover Classification Dataset</a:t>
            </a:r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subTitle" idx="5"/>
          </p:nvPr>
        </p:nvSpPr>
        <p:spPr>
          <a:xfrm>
            <a:off x="5086525" y="2698825"/>
            <a:ext cx="3060300" cy="63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Dubai Satellite Imagery Dataset</a:t>
            </a:r>
            <a:endParaRPr/>
          </a:p>
        </p:txBody>
      </p:sp>
      <p:sp>
        <p:nvSpPr>
          <p:cNvPr id="264" name="Google Shape;264;p32"/>
          <p:cNvSpPr txBox="1">
            <a:spLocks noGrp="1"/>
          </p:cNvSpPr>
          <p:nvPr>
            <p:ph type="subTitle" idx="1"/>
          </p:nvPr>
        </p:nvSpPr>
        <p:spPr>
          <a:xfrm>
            <a:off x="814675" y="3334050"/>
            <a:ext cx="30603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Total Images: 1,146 RGB images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Resolution: 2,448 × 2,448 pixels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Spatial Resolution: 50 cm per pixel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Source: Satellite imagery (DigitalGlobe)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Total Classes: 7</a:t>
            </a:r>
            <a:endParaRPr/>
          </a:p>
        </p:txBody>
      </p:sp>
      <p:sp>
        <p:nvSpPr>
          <p:cNvPr id="265" name="Google Shape;265;p32"/>
          <p:cNvSpPr txBox="1">
            <a:spLocks noGrp="1"/>
          </p:cNvSpPr>
          <p:nvPr>
            <p:ph type="subTitle" idx="2"/>
          </p:nvPr>
        </p:nvSpPr>
        <p:spPr>
          <a:xfrm>
            <a:off x="5086525" y="3306300"/>
            <a:ext cx="3060300" cy="13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Total Images: 72 RGB images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Resolution: Different resolutions in each tile, there are 8 tiles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Spatial Resolution: 50 cm per pixel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Source: High-resolution satellite imagery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Total Classes: 6</a:t>
            </a:r>
            <a:endParaRPr/>
          </a:p>
        </p:txBody>
      </p:sp>
      <p:pic>
        <p:nvPicPr>
          <p:cNvPr id="266" name="Google Shape;266;p32" title="deepGlobe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638" y="1150625"/>
            <a:ext cx="1977475" cy="14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2" title="dubai.jpg"/>
          <p:cNvPicPr preferRelativeResize="0"/>
          <p:nvPr/>
        </p:nvPicPr>
        <p:blipFill rotWithShape="1">
          <a:blip r:embed="rId4">
            <a:alphaModFix/>
          </a:blip>
          <a:srcRect l="3720" r="-3719"/>
          <a:stretch/>
        </p:blipFill>
        <p:spPr>
          <a:xfrm>
            <a:off x="5627075" y="1170138"/>
            <a:ext cx="2202900" cy="13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Combined Dataset</a:t>
            </a:r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subTitle" idx="1"/>
          </p:nvPr>
        </p:nvSpPr>
        <p:spPr>
          <a:xfrm>
            <a:off x="824950" y="1450512"/>
            <a:ext cx="6753900" cy="22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Total Images: 875 RGB images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Total Classes: 12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Classes are: Urban_land (DeepGlobe), Agriculture_land (DeepGlobe), Range_land (DeepGlobe), Forest_land (DeepGlobe), Barren_land (DeepGlobe), Unknown (DeepGlobe), Building (Dubai), Land (Dubai), Road (Dubai), Vegetation (Dubai), Unlabeled (Dubai), Water (Common) 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pic>
        <p:nvPicPr>
          <p:cNvPr id="274" name="Google Shape;274;p33" title="Picture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925" y="3066700"/>
            <a:ext cx="7026176" cy="53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3" title="Picture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9925" y="3602957"/>
            <a:ext cx="3513092" cy="457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3" title="Picture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3017" y="3602957"/>
            <a:ext cx="3513092" cy="457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34"/>
          <p:cNvGrpSpPr/>
          <p:nvPr/>
        </p:nvGrpSpPr>
        <p:grpSpPr>
          <a:xfrm>
            <a:off x="0" y="3992625"/>
            <a:ext cx="9144090" cy="1150894"/>
            <a:chOff x="0" y="3992625"/>
            <a:chExt cx="9144090" cy="1150894"/>
          </a:xfrm>
        </p:grpSpPr>
        <p:sp>
          <p:nvSpPr>
            <p:cNvPr id="282" name="Google Shape;282;p34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0" y="3992625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4" name="Google Shape;28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Model Architecture</a:t>
            </a:r>
            <a:endParaRPr sz="2900"/>
          </a:p>
        </p:txBody>
      </p:sp>
      <p:sp>
        <p:nvSpPr>
          <p:cNvPr id="285" name="Google Shape;285;p34"/>
          <p:cNvSpPr txBox="1"/>
          <p:nvPr/>
        </p:nvSpPr>
        <p:spPr>
          <a:xfrm>
            <a:off x="913950" y="1428300"/>
            <a:ext cx="3924300" cy="26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Segformer B3</a:t>
            </a:r>
            <a:endParaRPr sz="16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Hierarchical transformer encoder - captures both coarse &amp; fine features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MLP decoder - fuses multi-scale features for segmentation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 positional encoding - robust to varying input size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Pretrained on ADE20K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6" name="Google Shape;286;p34" title="segform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250" y="1688175"/>
            <a:ext cx="4028575" cy="21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4"/>
          <p:cNvSpPr txBox="1"/>
          <p:nvPr/>
        </p:nvSpPr>
        <p:spPr>
          <a:xfrm>
            <a:off x="5391450" y="3853125"/>
            <a:ext cx="30939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Figure: Architecture of Segformer B3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Setup</a:t>
            </a:r>
            <a:endParaRPr/>
          </a:p>
        </p:txBody>
      </p:sp>
      <p:grpSp>
        <p:nvGrpSpPr>
          <p:cNvPr id="293" name="Google Shape;293;p35"/>
          <p:cNvGrpSpPr/>
          <p:nvPr/>
        </p:nvGrpSpPr>
        <p:grpSpPr>
          <a:xfrm>
            <a:off x="2771307" y="959069"/>
            <a:ext cx="3768522" cy="3774409"/>
            <a:chOff x="2675582" y="676586"/>
            <a:chExt cx="3793942" cy="3790328"/>
          </a:xfrm>
        </p:grpSpPr>
        <p:sp>
          <p:nvSpPr>
            <p:cNvPr id="294" name="Google Shape;294;p35"/>
            <p:cNvSpPr/>
            <p:nvPr/>
          </p:nvSpPr>
          <p:spPr>
            <a:xfrm rot="-7199815">
              <a:off x="3183352" y="1184485"/>
              <a:ext cx="2774659" cy="2774659"/>
            </a:xfrm>
            <a:prstGeom prst="blockArc">
              <a:avLst>
                <a:gd name="adj1" fmla="val 12622480"/>
                <a:gd name="adj2" fmla="val 18176457"/>
                <a:gd name="adj3" fmla="val 20786"/>
              </a:avLst>
            </a:prstGeom>
            <a:solidFill>
              <a:srgbClr val="0D5C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5"/>
            <p:cNvSpPr/>
            <p:nvPr/>
          </p:nvSpPr>
          <p:spPr>
            <a:xfrm rot="-1799815">
              <a:off x="3183352" y="1184357"/>
              <a:ext cx="2774659" cy="2774659"/>
            </a:xfrm>
            <a:prstGeom prst="blockArc">
              <a:avLst>
                <a:gd name="adj1" fmla="val 12622480"/>
                <a:gd name="adj2" fmla="val 18176457"/>
                <a:gd name="adj3" fmla="val 20786"/>
              </a:avLst>
            </a:prstGeom>
            <a:solidFill>
              <a:srgbClr val="0E63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5"/>
            <p:cNvSpPr/>
            <p:nvPr/>
          </p:nvSpPr>
          <p:spPr>
            <a:xfrm rot="3600185">
              <a:off x="3187094" y="1184439"/>
              <a:ext cx="2774659" cy="2774659"/>
            </a:xfrm>
            <a:prstGeom prst="blockArc">
              <a:avLst>
                <a:gd name="adj1" fmla="val 12564381"/>
                <a:gd name="adj2" fmla="val 18346131"/>
                <a:gd name="adj3" fmla="val 20844"/>
              </a:avLst>
            </a:prstGeom>
            <a:solidFill>
              <a:srgbClr val="0942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5"/>
            <p:cNvSpPr/>
            <p:nvPr/>
          </p:nvSpPr>
          <p:spPr>
            <a:xfrm rot="9000185">
              <a:off x="3185977" y="1184485"/>
              <a:ext cx="2774659" cy="2774659"/>
            </a:xfrm>
            <a:prstGeom prst="blockArc">
              <a:avLst>
                <a:gd name="adj1" fmla="val 12622480"/>
                <a:gd name="adj2" fmla="val 18081133"/>
                <a:gd name="adj3" fmla="val 20809"/>
              </a:avLst>
            </a:prstGeom>
            <a:solidFill>
              <a:srgbClr val="0C57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8" name="Google Shape;298;p35"/>
            <p:cNvGrpSpPr/>
            <p:nvPr/>
          </p:nvGrpSpPr>
          <p:grpSpPr>
            <a:xfrm rot="5400000">
              <a:off x="5379663" y="2278951"/>
              <a:ext cx="585001" cy="585472"/>
              <a:chOff x="1967628" y="812211"/>
              <a:chExt cx="588000" cy="588000"/>
            </a:xfrm>
          </p:grpSpPr>
          <p:sp>
            <p:nvSpPr>
              <p:cNvPr id="299" name="Google Shape;299;p35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rgbClr val="0C57D3"/>
              </a:solidFill>
              <a:ln>
                <a:noFill/>
              </a:ln>
              <a:effectLst>
                <a:outerShdw blurRad="142875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5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rgbClr val="0C57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1" name="Google Shape;301;p35"/>
            <p:cNvGrpSpPr/>
            <p:nvPr/>
          </p:nvGrpSpPr>
          <p:grpSpPr>
            <a:xfrm rot="10800000">
              <a:off x="4280709" y="3378529"/>
              <a:ext cx="585001" cy="585472"/>
              <a:chOff x="1967628" y="812211"/>
              <a:chExt cx="588000" cy="588000"/>
            </a:xfrm>
          </p:grpSpPr>
          <p:sp>
            <p:nvSpPr>
              <p:cNvPr id="302" name="Google Shape;302;p35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rgbClr val="0D5CDF"/>
              </a:solidFill>
              <a:ln>
                <a:noFill/>
              </a:ln>
              <a:effectLst>
                <a:outerShdw blurRad="142875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5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rgbClr val="0D5C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4" name="Google Shape;304;p35"/>
            <p:cNvGrpSpPr/>
            <p:nvPr/>
          </p:nvGrpSpPr>
          <p:grpSpPr>
            <a:xfrm rot="-5400000">
              <a:off x="3179922" y="2281478"/>
              <a:ext cx="585001" cy="585472"/>
              <a:chOff x="1967628" y="812211"/>
              <a:chExt cx="588000" cy="588000"/>
            </a:xfrm>
          </p:grpSpPr>
          <p:sp>
            <p:nvSpPr>
              <p:cNvPr id="305" name="Google Shape;305;p35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rgbClr val="0E63F0"/>
              </a:solidFill>
              <a:ln>
                <a:noFill/>
              </a:ln>
              <a:effectLst>
                <a:outerShdw blurRad="142875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5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rgbClr val="0E63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7" name="Google Shape;307;p35"/>
            <p:cNvSpPr txBox="1"/>
            <p:nvPr/>
          </p:nvSpPr>
          <p:spPr>
            <a:xfrm>
              <a:off x="3214513" y="2360618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sz="1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8" name="Google Shape;308;p35"/>
            <p:cNvSpPr txBox="1"/>
            <p:nvPr/>
          </p:nvSpPr>
          <p:spPr>
            <a:xfrm>
              <a:off x="4335750" y="346030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sz="1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" name="Google Shape;309;p35"/>
            <p:cNvSpPr txBox="1"/>
            <p:nvPr/>
          </p:nvSpPr>
          <p:spPr>
            <a:xfrm>
              <a:off x="5419402" y="2360618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sz="1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10" name="Google Shape;310;p35"/>
            <p:cNvGrpSpPr/>
            <p:nvPr/>
          </p:nvGrpSpPr>
          <p:grpSpPr>
            <a:xfrm>
              <a:off x="4261689" y="1180926"/>
              <a:ext cx="585001" cy="585530"/>
              <a:chOff x="1967628" y="812211"/>
              <a:chExt cx="588000" cy="588000"/>
            </a:xfrm>
          </p:grpSpPr>
          <p:sp>
            <p:nvSpPr>
              <p:cNvPr id="311" name="Google Shape;311;p35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rgbClr val="0942A1"/>
              </a:solidFill>
              <a:ln>
                <a:noFill/>
              </a:ln>
              <a:effectLst>
                <a:outerShdw blurRad="142875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5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rgbClr val="0942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3" name="Google Shape;313;p35"/>
            <p:cNvSpPr txBox="1"/>
            <p:nvPr/>
          </p:nvSpPr>
          <p:spPr>
            <a:xfrm>
              <a:off x="4335750" y="1254446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sz="1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4" name="Google Shape;314;p35"/>
          <p:cNvGrpSpPr/>
          <p:nvPr/>
        </p:nvGrpSpPr>
        <p:grpSpPr>
          <a:xfrm>
            <a:off x="406075" y="1434925"/>
            <a:ext cx="3362700" cy="1758300"/>
            <a:chOff x="323513" y="1207875"/>
            <a:chExt cx="3362700" cy="1758300"/>
          </a:xfrm>
        </p:grpSpPr>
        <p:sp>
          <p:nvSpPr>
            <p:cNvPr id="315" name="Google Shape;315;p35"/>
            <p:cNvSpPr txBox="1"/>
            <p:nvPr/>
          </p:nvSpPr>
          <p:spPr>
            <a:xfrm>
              <a:off x="323513" y="1207875"/>
              <a:ext cx="2124000" cy="175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latin typeface="Roboto"/>
                  <a:ea typeface="Roboto"/>
                  <a:cs typeface="Roboto"/>
                  <a:sym typeface="Roboto"/>
                </a:rPr>
                <a:t>Data Preprocessing</a:t>
              </a:r>
              <a:endParaRPr sz="1300"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92100" algn="l" rtl="0">
                <a:spcBef>
                  <a:spcPts val="0"/>
                </a:spcBef>
                <a:spcAft>
                  <a:spcPts val="0"/>
                </a:spcAft>
                <a:buSzPts val="1000"/>
                <a:buFont typeface="Roboto"/>
                <a:buChar char="●"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Converted all images to 512X512 size.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92100" algn="l" rtl="0">
                <a:spcBef>
                  <a:spcPts val="0"/>
                </a:spcBef>
                <a:spcAft>
                  <a:spcPts val="0"/>
                </a:spcAft>
                <a:buSzPts val="1000"/>
                <a:buFont typeface="Roboto"/>
                <a:buChar char="●"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Converted RGB colour codes of the masks to Class Indices.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spcBef>
                  <a:spcPts val="0"/>
                </a:spcBef>
                <a:spcAft>
                  <a:spcPts val="0"/>
                </a:spcAft>
                <a:buSzPts val="800"/>
                <a:buFont typeface="Roboto"/>
                <a:buChar char="●"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Assigned weight to the Dubai dataset classes as they are less in number.</a:t>
              </a: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6" name="Google Shape;316;p35"/>
            <p:cNvCxnSpPr/>
            <p:nvPr/>
          </p:nvCxnSpPr>
          <p:spPr>
            <a:xfrm rot="10800000">
              <a:off x="2641913" y="1831625"/>
              <a:ext cx="1044300" cy="0"/>
            </a:xfrm>
            <a:prstGeom prst="straightConnector1">
              <a:avLst/>
            </a:prstGeom>
            <a:noFill/>
            <a:ln w="9525" cap="flat" cmpd="sng">
              <a:solidFill>
                <a:srgbClr val="0E63F0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317" name="Google Shape;317;p35"/>
          <p:cNvGrpSpPr/>
          <p:nvPr/>
        </p:nvGrpSpPr>
        <p:grpSpPr>
          <a:xfrm>
            <a:off x="406063" y="3247500"/>
            <a:ext cx="3629413" cy="1289700"/>
            <a:chOff x="323500" y="3020450"/>
            <a:chExt cx="3629413" cy="1289700"/>
          </a:xfrm>
        </p:grpSpPr>
        <p:sp>
          <p:nvSpPr>
            <p:cNvPr id="318" name="Google Shape;318;p35"/>
            <p:cNvSpPr txBox="1"/>
            <p:nvPr/>
          </p:nvSpPr>
          <p:spPr>
            <a:xfrm>
              <a:off x="323500" y="302045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latin typeface="Roboto"/>
                  <a:ea typeface="Roboto"/>
                  <a:cs typeface="Roboto"/>
                  <a:sym typeface="Roboto"/>
                </a:rPr>
                <a:t>Augmentation</a:t>
              </a:r>
              <a:endParaRPr sz="1300"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1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92100" algn="l" rtl="0">
                <a:spcBef>
                  <a:spcPts val="0"/>
                </a:spcBef>
                <a:spcAft>
                  <a:spcPts val="0"/>
                </a:spcAft>
                <a:buSzPts val="1000"/>
                <a:buFont typeface="Roboto"/>
                <a:buChar char="●"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Applied Random horizontal flip, Random vertical flip, Random rotation.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9" name="Google Shape;319;p35"/>
            <p:cNvCxnSpPr/>
            <p:nvPr/>
          </p:nvCxnSpPr>
          <p:spPr>
            <a:xfrm rot="10800000">
              <a:off x="2641913" y="3489425"/>
              <a:ext cx="1311000" cy="0"/>
            </a:xfrm>
            <a:prstGeom prst="straightConnector1">
              <a:avLst/>
            </a:prstGeom>
            <a:noFill/>
            <a:ln w="9525" cap="flat" cmpd="sng">
              <a:solidFill>
                <a:srgbClr val="0D5CDF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320" name="Google Shape;320;p35"/>
          <p:cNvGrpSpPr/>
          <p:nvPr/>
        </p:nvGrpSpPr>
        <p:grpSpPr>
          <a:xfrm>
            <a:off x="5292388" y="1287400"/>
            <a:ext cx="3610650" cy="1647900"/>
            <a:chOff x="5209825" y="1060350"/>
            <a:chExt cx="3610650" cy="1647900"/>
          </a:xfrm>
        </p:grpSpPr>
        <p:sp>
          <p:nvSpPr>
            <p:cNvPr id="321" name="Google Shape;321;p35"/>
            <p:cNvSpPr txBox="1"/>
            <p:nvPr/>
          </p:nvSpPr>
          <p:spPr>
            <a:xfrm>
              <a:off x="6696475" y="1060350"/>
              <a:ext cx="2124000" cy="16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latin typeface="Roboto"/>
                  <a:ea typeface="Roboto"/>
                  <a:cs typeface="Roboto"/>
                  <a:sym typeface="Roboto"/>
                </a:rPr>
                <a:t>Training Loop</a:t>
              </a:r>
              <a:endParaRPr sz="1300"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"/>
                <a:buChar char="●"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Trained with Segformer B3 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"/>
                <a:buChar char="●"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Trained for 30 epochs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"/>
                <a:buChar char="●"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Used early stopping technique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"/>
                <a:buChar char="●"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Applied learning rate optimization technique.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22" name="Google Shape;322;p35"/>
            <p:cNvCxnSpPr/>
            <p:nvPr/>
          </p:nvCxnSpPr>
          <p:spPr>
            <a:xfrm>
              <a:off x="5209825" y="1705200"/>
              <a:ext cx="1286700" cy="0"/>
            </a:xfrm>
            <a:prstGeom prst="straightConnector1">
              <a:avLst/>
            </a:prstGeom>
            <a:noFill/>
            <a:ln w="9525" cap="flat" cmpd="sng">
              <a:solidFill>
                <a:srgbClr val="0942A1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323" name="Google Shape;323;p35"/>
          <p:cNvGrpSpPr/>
          <p:nvPr/>
        </p:nvGrpSpPr>
        <p:grpSpPr>
          <a:xfrm>
            <a:off x="5292388" y="3247500"/>
            <a:ext cx="3610650" cy="1289700"/>
            <a:chOff x="5209825" y="3020450"/>
            <a:chExt cx="3610650" cy="1289700"/>
          </a:xfrm>
        </p:grpSpPr>
        <p:sp>
          <p:nvSpPr>
            <p:cNvPr id="324" name="Google Shape;324;p35"/>
            <p:cNvSpPr txBox="1"/>
            <p:nvPr/>
          </p:nvSpPr>
          <p:spPr>
            <a:xfrm>
              <a:off x="6696475" y="302045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latin typeface="Roboto"/>
                  <a:ea typeface="Roboto"/>
                  <a:cs typeface="Roboto"/>
                  <a:sym typeface="Roboto"/>
                </a:rPr>
                <a:t>Define Loss Function</a:t>
              </a:r>
              <a:endParaRPr sz="1300"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92100" algn="l" rtl="0">
                <a:spcBef>
                  <a:spcPts val="0"/>
                </a:spcBef>
                <a:spcAft>
                  <a:spcPts val="0"/>
                </a:spcAft>
                <a:buSzPts val="1000"/>
                <a:buFont typeface="Roboto"/>
                <a:buChar char="●"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Used a combined loss function with Focal loss and Dice loss.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92100" algn="l" rtl="0">
                <a:spcBef>
                  <a:spcPts val="0"/>
                </a:spcBef>
                <a:spcAft>
                  <a:spcPts val="0"/>
                </a:spcAft>
                <a:buSzPts val="1000"/>
                <a:buFont typeface="Roboto"/>
                <a:buChar char="●"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Used class weights for calculating loss function.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25" name="Google Shape;325;p35"/>
            <p:cNvCxnSpPr/>
            <p:nvPr/>
          </p:nvCxnSpPr>
          <p:spPr>
            <a:xfrm>
              <a:off x="5209825" y="3648300"/>
              <a:ext cx="1286700" cy="0"/>
            </a:xfrm>
            <a:prstGeom prst="straightConnector1">
              <a:avLst/>
            </a:prstGeom>
            <a:noFill/>
            <a:ln w="9525" cap="flat" cmpd="sng">
              <a:solidFill>
                <a:srgbClr val="0C57D3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>
            <a:spLocks noGrp="1"/>
          </p:cNvSpPr>
          <p:nvPr>
            <p:ph type="title"/>
          </p:nvPr>
        </p:nvSpPr>
        <p:spPr>
          <a:xfrm>
            <a:off x="716625" y="681050"/>
            <a:ext cx="7720800" cy="66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Segmentation Results</a:t>
            </a:r>
            <a:endParaRPr sz="2900"/>
          </a:p>
        </p:txBody>
      </p:sp>
      <p:sp>
        <p:nvSpPr>
          <p:cNvPr id="331" name="Google Shape;331;p36"/>
          <p:cNvSpPr txBox="1">
            <a:spLocks noGrp="1"/>
          </p:cNvSpPr>
          <p:nvPr>
            <p:ph type="subTitle" idx="1"/>
          </p:nvPr>
        </p:nvSpPr>
        <p:spPr>
          <a:xfrm>
            <a:off x="716625" y="2166100"/>
            <a:ext cx="2553900" cy="19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validation set we achieved: 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Pixel Accuracy: 0.98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mIoU: 0.53 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F1 Score: 0.38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2" name="Google Shape;332;p36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33" name="Google Shape;333;p36"/>
          <p:cNvGrpSpPr/>
          <p:nvPr/>
        </p:nvGrpSpPr>
        <p:grpSpPr>
          <a:xfrm>
            <a:off x="50" y="4146305"/>
            <a:ext cx="9143908" cy="1150890"/>
            <a:chOff x="0" y="3992630"/>
            <a:chExt cx="9143908" cy="1150890"/>
          </a:xfrm>
        </p:grpSpPr>
        <p:sp>
          <p:nvSpPr>
            <p:cNvPr id="334" name="Google Shape;334;p36"/>
            <p:cNvSpPr/>
            <p:nvPr/>
          </p:nvSpPr>
          <p:spPr>
            <a:xfrm flipH="1"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6"/>
            <p:cNvSpPr/>
            <p:nvPr/>
          </p:nvSpPr>
          <p:spPr>
            <a:xfrm flipH="1">
              <a:off x="0" y="3992630"/>
              <a:ext cx="9140183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36" name="Google Shape;336;p36" title="outpu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662" y="1449000"/>
            <a:ext cx="4942554" cy="1679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6" title="output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9625" y="3128154"/>
            <a:ext cx="5044589" cy="1620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ViT for segmentation?</a:t>
            </a:r>
            <a:endParaRPr/>
          </a:p>
        </p:txBody>
      </p:sp>
      <p:graphicFrame>
        <p:nvGraphicFramePr>
          <p:cNvPr id="343" name="Google Shape;343;p37"/>
          <p:cNvGraphicFramePr/>
          <p:nvPr/>
        </p:nvGraphicFramePr>
        <p:xfrm>
          <a:off x="983550" y="185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{0B556BAD-9C1E-4580-962F-8F6337644726}</a:tableStyleId>
              </a:tblPr>
              <a:tblGrid>
                <a:gridCol w="208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Model Name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Pixel Accuracy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mIoU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F1 Score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Training Time/Epoch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Segformer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0.98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0.53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0.38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~ 8 minutes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DeepLabV3+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0.85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0.50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0.44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~ 17 minutes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UNet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0.75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0.31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0.31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~ 20 minutes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"/>
          <p:cNvSpPr txBox="1">
            <a:spLocks noGrp="1"/>
          </p:cNvSpPr>
          <p:nvPr>
            <p:ph type="subTitle" idx="3"/>
          </p:nvPr>
        </p:nvSpPr>
        <p:spPr>
          <a:xfrm>
            <a:off x="1032447" y="3695800"/>
            <a:ext cx="3137400" cy="4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Damage Estimation</a:t>
            </a:r>
            <a:endParaRPr/>
          </a:p>
        </p:txBody>
      </p:sp>
      <p:pic>
        <p:nvPicPr>
          <p:cNvPr id="350" name="Google Shape;350;p38" title="output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425" y="1202150"/>
            <a:ext cx="3350976" cy="344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8" title="output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9616" y="1576138"/>
            <a:ext cx="4389334" cy="2695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9"/>
          <p:cNvSpPr txBox="1">
            <a:spLocks noGrp="1"/>
          </p:cNvSpPr>
          <p:nvPr>
            <p:ph type="subTitle" idx="1"/>
          </p:nvPr>
        </p:nvSpPr>
        <p:spPr>
          <a:xfrm>
            <a:off x="4316825" y="2032750"/>
            <a:ext cx="3137400" cy="22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 real-world economic datasets for valuation</a:t>
            </a:r>
            <a:endParaRPr sz="1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Integrate crop type classification with temporal data</a:t>
            </a:r>
            <a:endParaRPr sz="1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Extend framework to other disasters (wildfire, drought, etc.)</a:t>
            </a:r>
            <a:endParaRPr sz="1400"/>
          </a:p>
        </p:txBody>
      </p:sp>
      <p:sp>
        <p:nvSpPr>
          <p:cNvPr id="357" name="Google Shape;357;p39"/>
          <p:cNvSpPr txBox="1">
            <a:spLocks noGrp="1"/>
          </p:cNvSpPr>
          <p:nvPr>
            <p:ph type="subTitle" idx="2"/>
          </p:nvPr>
        </p:nvSpPr>
        <p:spPr>
          <a:xfrm>
            <a:off x="837775" y="2032750"/>
            <a:ext cx="3137400" cy="20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Economic values for land classes were assigned arbitrarily (lack of real data)</a:t>
            </a:r>
            <a:endParaRPr sz="1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Small training dataset limits generalization</a:t>
            </a:r>
            <a:endParaRPr sz="1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Cannot determine crop type or seasonal variations</a:t>
            </a:r>
            <a:endParaRPr sz="1400"/>
          </a:p>
        </p:txBody>
      </p:sp>
      <p:sp>
        <p:nvSpPr>
          <p:cNvPr id="358" name="Google Shape;358;p39"/>
          <p:cNvSpPr txBox="1">
            <a:spLocks noGrp="1"/>
          </p:cNvSpPr>
          <p:nvPr>
            <p:ph type="subTitle" idx="3"/>
          </p:nvPr>
        </p:nvSpPr>
        <p:spPr>
          <a:xfrm>
            <a:off x="837772" y="1595350"/>
            <a:ext cx="3137400" cy="4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	</a:t>
            </a:r>
            <a:endParaRPr/>
          </a:p>
        </p:txBody>
      </p:sp>
      <p:sp>
        <p:nvSpPr>
          <p:cNvPr id="359" name="Google Shape;359;p39"/>
          <p:cNvSpPr txBox="1">
            <a:spLocks noGrp="1"/>
          </p:cNvSpPr>
          <p:nvPr>
            <p:ph type="subTitle" idx="4"/>
          </p:nvPr>
        </p:nvSpPr>
        <p:spPr>
          <a:xfrm>
            <a:off x="4316823" y="1595350"/>
            <a:ext cx="3137400" cy="4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Works</a:t>
            </a:r>
            <a:endParaRPr/>
          </a:p>
        </p:txBody>
      </p:sp>
      <p:sp>
        <p:nvSpPr>
          <p:cNvPr id="360" name="Google Shape;36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&amp; Future Improvements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66" name="Google Shape;366;p40"/>
          <p:cNvSpPr txBox="1"/>
          <p:nvPr/>
        </p:nvSpPr>
        <p:spPr>
          <a:xfrm>
            <a:off x="821725" y="1448775"/>
            <a:ext cx="7551300" cy="26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 developed a Vision Transformer-based framework for flood damage assessment using satellite imagery. Our SegFormer B3 model achieved high segmentation accuracy and enabled estimation of economic loss by comparing pre- and post-flood images. This approach offers a fast, automated solution for post-disaster analysis, with future work focusing on crop-specific damage and extension to other disasters.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1"/>
          <p:cNvSpPr txBox="1">
            <a:spLocks noGrp="1"/>
          </p:cNvSpPr>
          <p:nvPr>
            <p:ph type="ctrTitle"/>
          </p:nvPr>
        </p:nvSpPr>
        <p:spPr>
          <a:xfrm>
            <a:off x="724650" y="1479525"/>
            <a:ext cx="7694700" cy="236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are Welcome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2" name="Google Shape;372;p41"/>
          <p:cNvGrpSpPr/>
          <p:nvPr/>
        </p:nvGrpSpPr>
        <p:grpSpPr>
          <a:xfrm>
            <a:off x="-50" y="4127553"/>
            <a:ext cx="9144090" cy="1148819"/>
            <a:chOff x="0" y="3994700"/>
            <a:chExt cx="9144090" cy="1148819"/>
          </a:xfrm>
        </p:grpSpPr>
        <p:sp>
          <p:nvSpPr>
            <p:cNvPr id="373" name="Google Shape;373;p41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1"/>
            <p:cNvSpPr/>
            <p:nvPr/>
          </p:nvSpPr>
          <p:spPr>
            <a:xfrm>
              <a:off x="0" y="3994700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80" name="Google Shape;380;p42"/>
          <p:cNvSpPr txBox="1">
            <a:spLocks noGrp="1"/>
          </p:cNvSpPr>
          <p:nvPr>
            <p:ph type="subTitle" idx="2"/>
          </p:nvPr>
        </p:nvSpPr>
        <p:spPr>
          <a:xfrm>
            <a:off x="1052975" y="1485850"/>
            <a:ext cx="7647900" cy="29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H. Thisanke, C. Deshan, K. Chamith, S. Seneviratne, R. Vidanaarachchi, and D. Herath, “Semantic segmentation using vision transformers: A survey,” arXiv preprint arXiv:2305.03273, 2023. [Online]. Available: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https://arxiv.org/abs/2305.03273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T. Panboonyuen, C. Charoenphon, and C. Satirapod, “Mevit: A medium resolution vision transformer for semantic segmentation on landsat satellite imagery for agriculture in thailand,” Remote Sensing, vol. 15, no. 5124, 2023.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J. Yao, B. Zhang, C. Li, D. Hong, and J. Chanussot, “Extended vision transformer (exvit) for land use and land cover classification: A multimodal deep learning framework,” in IEEE Transactions on Geoscience and Remote Sensing, vol. 61, 2023, pp. 1–12.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er Management Company Profile by Slidesgo">
  <a:themeElements>
    <a:clrScheme name="Simple Light">
      <a:dk1>
        <a:srgbClr val="103E4C"/>
      </a:dk1>
      <a:lt1>
        <a:srgbClr val="FAFAFA"/>
      </a:lt1>
      <a:dk2>
        <a:srgbClr val="DEEDFA"/>
      </a:dk2>
      <a:lt2>
        <a:srgbClr val="BAE2EE"/>
      </a:lt2>
      <a:accent1>
        <a:srgbClr val="3EAFD4"/>
      </a:accent1>
      <a:accent2>
        <a:srgbClr val="2289AA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03E4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1127</Words>
  <Application>Microsoft Office PowerPoint</Application>
  <PresentationFormat>On-screen Show (16:9)</PresentationFormat>
  <Paragraphs>183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Nunito Light</vt:lpstr>
      <vt:lpstr>Raleway</vt:lpstr>
      <vt:lpstr>Arial</vt:lpstr>
      <vt:lpstr>Roboto</vt:lpstr>
      <vt:lpstr>Nunito</vt:lpstr>
      <vt:lpstr>Anaheim</vt:lpstr>
      <vt:lpstr>Lexend</vt:lpstr>
      <vt:lpstr>Water Management Company Profile by Slidesgo</vt:lpstr>
      <vt:lpstr>Flood Induced Economic Damage Assessment from Satellite Imagery using Vision Transformers </vt:lpstr>
      <vt:lpstr>Table of contents</vt:lpstr>
      <vt:lpstr>Introduction</vt:lpstr>
      <vt:lpstr>Introduction</vt:lpstr>
      <vt:lpstr>Related Works</vt:lpstr>
      <vt:lpstr>Research Gap</vt:lpstr>
      <vt:lpstr>Proposed Methodology</vt:lpstr>
      <vt:lpstr>All the Formulas Used in Methodology</vt:lpstr>
      <vt:lpstr>Datasets</vt:lpstr>
      <vt:lpstr>Combined Dataset</vt:lpstr>
      <vt:lpstr>Model Architecture</vt:lpstr>
      <vt:lpstr>Training Setup</vt:lpstr>
      <vt:lpstr>Segmentation Results</vt:lpstr>
      <vt:lpstr>Why ViT for segmentation?</vt:lpstr>
      <vt:lpstr>Economic Damage Estimation</vt:lpstr>
      <vt:lpstr>Limitations &amp; Future Improvements</vt:lpstr>
      <vt:lpstr>Conclusion</vt:lpstr>
      <vt:lpstr>Thank You  Questions are Welcome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bdtechpark226</cp:lastModifiedBy>
  <cp:revision>1</cp:revision>
  <dcterms:modified xsi:type="dcterms:W3CDTF">2025-08-30T12:50:36Z</dcterms:modified>
</cp:coreProperties>
</file>